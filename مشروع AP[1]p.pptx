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81" r:id="rId3"/>
    <p:sldId id="282" r:id="rId4"/>
    <p:sldId id="284" r:id="rId5"/>
    <p:sldId id="283" r:id="rId6"/>
    <p:sldId id="285" r:id="rId7"/>
    <p:sldId id="295" r:id="rId8"/>
    <p:sldId id="296" r:id="rId9"/>
    <p:sldId id="297" r:id="rId10"/>
    <p:sldId id="294" r:id="rId11"/>
  </p:sldIdLst>
  <p:sldSz cx="18288000" cy="10287000"/>
  <p:notesSz cx="6858000" cy="9144000"/>
  <p:embeddedFontLst>
    <p:embeddedFont>
      <p:font typeface="Readex Pro" panose="020B0604020202020204" charset="-78"/>
      <p:regular r:id="rId13"/>
      <p:bold r:id="rId14"/>
    </p:embeddedFont>
    <p:embeddedFont>
      <p:font typeface="Readex Pro Bold" panose="020B0604020202020204" charset="-78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A5"/>
    <a:srgbClr val="B58325"/>
    <a:srgbClr val="3395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C3AEB3-9F54-41BB-8EA6-CDBA737A8F4A}" v="32" dt="2025-11-17T22:30:41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79" d="100"/>
          <a:sy n="79" d="100"/>
        </p:scale>
        <p:origin x="324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64BDECB-771F-47E4-830B-62B12FFBF9ED}" type="datetimeFigureOut">
              <a:rPr lang="ar-SA" smtClean="0"/>
              <a:t>28/05/47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19446FA-2B88-4920-8022-402FD0E76EB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31034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E030-D227-581D-C75C-D85FF83E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54395BD4-AAF3-E70C-DF73-10D05203D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66834094-A232-8E7B-95FB-ED173C66F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C9926C7-D3D1-54DA-4C60-A3B2593FF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446FA-2B88-4920-8022-402FD0E76EB3}" type="slidenum">
              <a:rPr lang="ar-SA" smtClean="0"/>
              <a:t>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19356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2371-41F9-213D-1C1B-B59BFC778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8AD1EEDF-251C-66FC-B18F-4374EDAA6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ED03F4A5-2DE0-46D5-D6CA-E2FF784BB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13C4780-07F8-024E-B312-120C5773C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446FA-2B88-4920-8022-402FD0E76EB3}" type="slidenum">
              <a:rPr lang="ar-SA" smtClean="0"/>
              <a:t>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47519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D4526-790C-5C06-7530-A795217D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0F44C43-6F47-AD2C-8213-27EA42BE5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F0274693-B393-E628-B179-A0C54A6AC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5A9D68C-6E43-AA40-7B5B-C95E16009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446FA-2B88-4920-8022-402FD0E76EB3}" type="slidenum">
              <a:rPr lang="ar-SA" smtClean="0"/>
              <a:t>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083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A586-E630-537E-87BF-4BC4E272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4DD740DC-6A25-1A99-972A-63B59554C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DCD680B1-E7BF-015C-50FA-5392C8C8C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F89C175-85A2-3360-1D9B-C90888031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446FA-2B88-4920-8022-402FD0E76EB3}" type="slidenum">
              <a:rPr lang="ar-SA" smtClean="0"/>
              <a:t>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87434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9C21-6A8C-26CB-96BC-FE22783C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B053690C-69D6-3B97-1E37-8E100513E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AF62D5E-097E-07EC-6F75-121622E41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625BA52-0018-DE9E-474C-86A3853D8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446FA-2B88-4920-8022-402FD0E76EB3}" type="slidenum">
              <a:rPr lang="ar-SA" smtClean="0"/>
              <a:t>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07991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3593877" y="6708116"/>
            <a:ext cx="6027593" cy="3578884"/>
          </a:xfrm>
          <a:custGeom>
            <a:avLst/>
            <a:gdLst/>
            <a:ahLst/>
            <a:cxnLst/>
            <a:rect l="l" t="t" r="r" b="b"/>
            <a:pathLst>
              <a:path w="6027593" h="3578884">
                <a:moveTo>
                  <a:pt x="0" y="0"/>
                </a:moveTo>
                <a:lnTo>
                  <a:pt x="6027594" y="0"/>
                </a:lnTo>
                <a:lnTo>
                  <a:pt x="6027594" y="3578884"/>
                </a:lnTo>
                <a:lnTo>
                  <a:pt x="0" y="3578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4" name="Freeform 4"/>
          <p:cNvSpPr/>
          <p:nvPr/>
        </p:nvSpPr>
        <p:spPr>
          <a:xfrm>
            <a:off x="15839827" y="0"/>
            <a:ext cx="6027593" cy="3578884"/>
          </a:xfrm>
          <a:custGeom>
            <a:avLst/>
            <a:gdLst/>
            <a:ahLst/>
            <a:cxnLst/>
            <a:rect l="l" t="t" r="r" b="b"/>
            <a:pathLst>
              <a:path w="6027593" h="3578884">
                <a:moveTo>
                  <a:pt x="0" y="0"/>
                </a:moveTo>
                <a:lnTo>
                  <a:pt x="6027594" y="0"/>
                </a:lnTo>
                <a:lnTo>
                  <a:pt x="6027594" y="3578884"/>
                </a:lnTo>
                <a:lnTo>
                  <a:pt x="0" y="3578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5" name="TextBox 5"/>
          <p:cNvSpPr txBox="1"/>
          <p:nvPr/>
        </p:nvSpPr>
        <p:spPr>
          <a:xfrm>
            <a:off x="2062286" y="4064794"/>
            <a:ext cx="1416342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dirty="0">
                <a:solidFill>
                  <a:srgbClr val="007AA5"/>
                </a:solidFill>
              </a:rPr>
              <a:t>Portfolio Creator</a:t>
            </a:r>
            <a:endParaRPr lang="en-US" sz="8000" b="1" dirty="0">
              <a:solidFill>
                <a:srgbClr val="007AA5"/>
              </a:solidFill>
              <a:latin typeface="Readex Pro" pitchFamily="2" charset="-78"/>
              <a:ea typeface="Montserrat Bold"/>
              <a:cs typeface="Readex Pro" pitchFamily="2" charset="-78"/>
              <a:sym typeface="Montserrat Bold"/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C590E9E0-0080-5846-778F-241880037830}"/>
              </a:ext>
            </a:extLst>
          </p:cNvPr>
          <p:cNvSpPr/>
          <p:nvPr/>
        </p:nvSpPr>
        <p:spPr>
          <a:xfrm>
            <a:off x="7771177" y="717608"/>
            <a:ext cx="2745647" cy="2769883"/>
          </a:xfrm>
          <a:custGeom>
            <a:avLst/>
            <a:gdLst/>
            <a:ahLst/>
            <a:cxnLst/>
            <a:rect l="l" t="t" r="r" b="b"/>
            <a:pathLst>
              <a:path w="2745647" h="2769883">
                <a:moveTo>
                  <a:pt x="0" y="0"/>
                </a:moveTo>
                <a:lnTo>
                  <a:pt x="2745646" y="0"/>
                </a:lnTo>
                <a:lnTo>
                  <a:pt x="2745646" y="2769883"/>
                </a:lnTo>
                <a:lnTo>
                  <a:pt x="0" y="2769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C4B94F06-B901-01BB-D8C7-734DCC6799DC}"/>
              </a:ext>
            </a:extLst>
          </p:cNvPr>
          <p:cNvSpPr txBox="1"/>
          <p:nvPr/>
        </p:nvSpPr>
        <p:spPr>
          <a:xfrm>
            <a:off x="12207451" y="9333904"/>
            <a:ext cx="726475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  <a:t>Submitted to:</a:t>
            </a:r>
            <a:b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</a:br>
            <a: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  <a:t>[Dr/</a:t>
            </a:r>
            <a:r>
              <a:rPr lang="en-US" sz="2000" b="1" dirty="0">
                <a:solidFill>
                  <a:srgbClr val="007AA5"/>
                </a:solidFill>
                <a:latin typeface="Readex Pro" pitchFamily="2" charset="-78"/>
                <a:cs typeface="Readex Pro" pitchFamily="2" charset="-78"/>
              </a:rPr>
              <a:t>EMAD</a:t>
            </a:r>
            <a: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  <a:t>]</a:t>
            </a:r>
            <a:b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</a:br>
            <a:endParaRPr lang="en-US" sz="2000" b="1" dirty="0">
              <a:solidFill>
                <a:srgbClr val="007AA5"/>
              </a:solidFill>
              <a:latin typeface="Readex Pro" pitchFamily="2" charset="-78"/>
              <a:ea typeface="Montserrat Bold"/>
              <a:cs typeface="Readex Pro" pitchFamily="2" charset="-78"/>
              <a:sym typeface="Montserrat Bold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25972F25-FDDD-1835-B402-82A7C475EE3C}"/>
              </a:ext>
            </a:extLst>
          </p:cNvPr>
          <p:cNvSpPr txBox="1"/>
          <p:nvPr/>
        </p:nvSpPr>
        <p:spPr>
          <a:xfrm>
            <a:off x="2525597" y="9161264"/>
            <a:ext cx="799122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  <a:t>Student Name:</a:t>
            </a:r>
            <a:b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</a:br>
            <a: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  <a:t>Ayham </a:t>
            </a:r>
            <a:r>
              <a:rPr lang="en-US" sz="2000" b="1" i="0" u="none" strike="noStrike" dirty="0" err="1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  <a:t>Sunbol</a:t>
            </a:r>
            <a:b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</a:br>
            <a:r>
              <a:rPr lang="en-US" sz="2000" b="1" dirty="0">
                <a:solidFill>
                  <a:srgbClr val="007AA5"/>
                </a:solidFill>
                <a:latin typeface="Readex Pro" pitchFamily="2" charset="-78"/>
                <a:cs typeface="Readex Pro" pitchFamily="2" charset="-78"/>
              </a:rPr>
              <a:t>Abdullah Mohammed amin </a:t>
            </a:r>
            <a:r>
              <a:rPr lang="en-US" sz="2000" b="1" dirty="0" err="1">
                <a:solidFill>
                  <a:srgbClr val="007AA5"/>
                </a:solidFill>
                <a:latin typeface="Readex Pro" pitchFamily="2" charset="-78"/>
                <a:cs typeface="Readex Pro" pitchFamily="2" charset="-78"/>
              </a:rPr>
              <a:t>Khojah</a:t>
            </a:r>
            <a:b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</a:br>
            <a:b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</a:br>
            <a:br>
              <a:rPr lang="en-US" sz="2000" b="1" i="0" u="none" strike="noStrike" dirty="0">
                <a:solidFill>
                  <a:srgbClr val="007AA5"/>
                </a:solidFill>
                <a:effectLst/>
                <a:latin typeface="Readex Pro" pitchFamily="2" charset="-78"/>
                <a:cs typeface="Readex Pro" pitchFamily="2" charset="-78"/>
              </a:rPr>
            </a:br>
            <a:endParaRPr lang="en-US" sz="2000" b="1" dirty="0">
              <a:solidFill>
                <a:srgbClr val="007AA5"/>
              </a:solidFill>
              <a:latin typeface="Readex Pro" pitchFamily="2" charset="-78"/>
              <a:ea typeface="Montserrat Bold"/>
              <a:cs typeface="Readex Pro" pitchFamily="2" charset="-78"/>
              <a:sym typeface="Montserra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8DA03-41C6-EDC3-1111-EBEB4A08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767ED4-F36F-2441-4D01-C126A97F9C69}"/>
              </a:ext>
            </a:extLst>
          </p:cNvPr>
          <p:cNvGrpSpPr/>
          <p:nvPr/>
        </p:nvGrpSpPr>
        <p:grpSpPr>
          <a:xfrm>
            <a:off x="0" y="1"/>
            <a:ext cx="18288000" cy="3695700"/>
            <a:chOff x="0" y="0"/>
            <a:chExt cx="4816593" cy="113659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0FE78DE-A005-72E6-65F3-6CC0860A0E78}"/>
                </a:ext>
              </a:extLst>
            </p:cNvPr>
            <p:cNvSpPr/>
            <p:nvPr/>
          </p:nvSpPr>
          <p:spPr>
            <a:xfrm>
              <a:off x="0" y="0"/>
              <a:ext cx="4816592" cy="1136591"/>
            </a:xfrm>
            <a:custGeom>
              <a:avLst/>
              <a:gdLst/>
              <a:ahLst/>
              <a:cxnLst/>
              <a:rect l="l" t="t" r="r" b="b"/>
              <a:pathLst>
                <a:path w="4816592" h="1136591">
                  <a:moveTo>
                    <a:pt x="0" y="0"/>
                  </a:moveTo>
                  <a:lnTo>
                    <a:pt x="4816592" y="0"/>
                  </a:lnTo>
                  <a:lnTo>
                    <a:pt x="4816592" y="1136591"/>
                  </a:lnTo>
                  <a:lnTo>
                    <a:pt x="0" y="1136591"/>
                  </a:lnTo>
                  <a:close/>
                </a:path>
              </a:pathLst>
            </a:custGeom>
            <a:solidFill>
              <a:srgbClr val="1D5175"/>
            </a:solidFill>
          </p:spPr>
          <p:txBody>
            <a:bodyPr/>
            <a:lstStyle/>
            <a:p>
              <a:endParaRPr lang="ar-SA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AF91209-DE29-B6EE-0610-483293CEC7DF}"/>
                </a:ext>
              </a:extLst>
            </p:cNvPr>
            <p:cNvSpPr txBox="1"/>
            <p:nvPr/>
          </p:nvSpPr>
          <p:spPr>
            <a:xfrm>
              <a:off x="0" y="-19050"/>
              <a:ext cx="4816593" cy="1155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0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AEE04909-BAA8-7573-04A4-24037C1D0673}"/>
              </a:ext>
            </a:extLst>
          </p:cNvPr>
          <p:cNvSpPr txBox="1"/>
          <p:nvPr/>
        </p:nvSpPr>
        <p:spPr>
          <a:xfrm>
            <a:off x="607457" y="3913428"/>
            <a:ext cx="17223343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B58325"/>
                </a:solidFill>
              </a:rPr>
              <a:t>Portfolio Creator</a:t>
            </a:r>
            <a:r>
              <a:rPr lang="en-US" sz="3600" dirty="0">
                <a:solidFill>
                  <a:srgbClr val="B58325"/>
                </a:solidFill>
              </a:rPr>
              <a:t> is a simple and user-friendly web application that allows users to build their own professional portfolio without any technical skills.</a:t>
            </a:r>
            <a:br>
              <a:rPr lang="en-US" sz="3600" dirty="0">
                <a:solidFill>
                  <a:srgbClr val="B58325"/>
                </a:solidFill>
              </a:rPr>
            </a:br>
            <a:r>
              <a:rPr lang="en-US" sz="3600" dirty="0">
                <a:solidFill>
                  <a:srgbClr val="B58325"/>
                </a:solidFill>
              </a:rPr>
              <a:t>The system includes authentication, data storage, editing tools, and a live preview feature.</a:t>
            </a:r>
            <a:br>
              <a:rPr lang="en-US" sz="3600" dirty="0">
                <a:solidFill>
                  <a:srgbClr val="B58325"/>
                </a:solidFill>
              </a:rPr>
            </a:br>
            <a:r>
              <a:rPr lang="en-US" sz="3600" dirty="0">
                <a:solidFill>
                  <a:srgbClr val="B58325"/>
                </a:solidFill>
              </a:rPr>
              <a:t>Users can manage their personal information, skills, projects, and contact details — then generate a complete portfolio page with a shareable QR code.</a:t>
            </a:r>
          </a:p>
          <a:p>
            <a:r>
              <a:rPr lang="en-US" sz="3600" dirty="0">
                <a:solidFill>
                  <a:srgbClr val="B58325"/>
                </a:solidFill>
              </a:rPr>
              <a:t>Built using </a:t>
            </a:r>
            <a:r>
              <a:rPr lang="en-US" sz="3600" b="1" dirty="0">
                <a:solidFill>
                  <a:srgbClr val="B58325"/>
                </a:solidFill>
              </a:rPr>
              <a:t>HTML, CSS, Flask, SQLite3</a:t>
            </a:r>
            <a:r>
              <a:rPr lang="en-US" sz="3600" dirty="0">
                <a:solidFill>
                  <a:srgbClr val="B58325"/>
                </a:solidFill>
              </a:rPr>
              <a:t>, and </a:t>
            </a:r>
            <a:r>
              <a:rPr lang="en-US" sz="3600" b="1" dirty="0" err="1">
                <a:solidFill>
                  <a:srgbClr val="B58325"/>
                </a:solidFill>
              </a:rPr>
              <a:t>bcrypt</a:t>
            </a:r>
            <a:r>
              <a:rPr lang="en-US" sz="3600" dirty="0">
                <a:solidFill>
                  <a:srgbClr val="B58325"/>
                </a:solidFill>
              </a:rPr>
              <a:t> for secure password hashing.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600" b="1" i="0" dirty="0">
              <a:solidFill>
                <a:srgbClr val="B58325"/>
              </a:solidFill>
              <a:effectLst/>
              <a:latin typeface="Readex Pro" pitchFamily="2" charset="-78"/>
              <a:cs typeface="Readex Pro" pitchFamily="2" charset="-78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8964DBA-DCED-E796-EC72-0D60A0818E4C}"/>
              </a:ext>
            </a:extLst>
          </p:cNvPr>
          <p:cNvSpPr txBox="1"/>
          <p:nvPr/>
        </p:nvSpPr>
        <p:spPr>
          <a:xfrm>
            <a:off x="-3581400" y="2459191"/>
            <a:ext cx="16364768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rPr>
              <a:t>Project Description:</a:t>
            </a:r>
            <a:endParaRPr lang="en-US" sz="6600" b="1" dirty="0">
              <a:solidFill>
                <a:schemeClr val="bg1"/>
              </a:solidFill>
              <a:latin typeface="Readex Pro" pitchFamily="2" charset="-78"/>
              <a:ea typeface="Readex Pro Bold"/>
              <a:cs typeface="Readex Pro" pitchFamily="2" charset="-78"/>
              <a:sym typeface="Readex Pro Bold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1DA99F77-25FF-9B4B-3EE4-61C6694BF35E}"/>
              </a:ext>
            </a:extLst>
          </p:cNvPr>
          <p:cNvGrpSpPr/>
          <p:nvPr/>
        </p:nvGrpSpPr>
        <p:grpSpPr>
          <a:xfrm>
            <a:off x="15682270" y="0"/>
            <a:ext cx="5211461" cy="2241464"/>
            <a:chOff x="0" y="0"/>
            <a:chExt cx="6948614" cy="2988619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309B9C0-E060-6A19-8ACB-F8CBFE6C978F}"/>
                </a:ext>
              </a:extLst>
            </p:cNvPr>
            <p:cNvSpPr/>
            <p:nvPr/>
          </p:nvSpPr>
          <p:spPr>
            <a:xfrm>
              <a:off x="0" y="0"/>
              <a:ext cx="5545009" cy="1455565"/>
            </a:xfrm>
            <a:custGeom>
              <a:avLst/>
              <a:gdLst/>
              <a:ahLst/>
              <a:cxnLst/>
              <a:rect l="l" t="t" r="r" b="b"/>
              <a:pathLst>
                <a:path w="5545009" h="1455565">
                  <a:moveTo>
                    <a:pt x="0" y="0"/>
                  </a:moveTo>
                  <a:lnTo>
                    <a:pt x="5545009" y="0"/>
                  </a:lnTo>
                  <a:lnTo>
                    <a:pt x="5545009" y="1455565"/>
                  </a:lnTo>
                  <a:lnTo>
                    <a:pt x="0" y="145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7F67F60-E0FE-FEAB-F4EC-B815BAADB0CA}"/>
                </a:ext>
              </a:extLst>
            </p:cNvPr>
            <p:cNvSpPr/>
            <p:nvPr/>
          </p:nvSpPr>
          <p:spPr>
            <a:xfrm>
              <a:off x="1403605" y="1533054"/>
              <a:ext cx="5545009" cy="1455565"/>
            </a:xfrm>
            <a:custGeom>
              <a:avLst/>
              <a:gdLst/>
              <a:ahLst/>
              <a:cxnLst/>
              <a:rect l="l" t="t" r="r" b="b"/>
              <a:pathLst>
                <a:path w="5545009" h="1455565">
                  <a:moveTo>
                    <a:pt x="0" y="0"/>
                  </a:moveTo>
                  <a:lnTo>
                    <a:pt x="5545009" y="0"/>
                  </a:lnTo>
                  <a:lnTo>
                    <a:pt x="5545009" y="1455565"/>
                  </a:lnTo>
                  <a:lnTo>
                    <a:pt x="0" y="145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105A147-4742-2A40-FC89-65066C016114}"/>
              </a:ext>
            </a:extLst>
          </p:cNvPr>
          <p:cNvGrpSpPr/>
          <p:nvPr/>
        </p:nvGrpSpPr>
        <p:grpSpPr>
          <a:xfrm>
            <a:off x="-2605730" y="0"/>
            <a:ext cx="5211461" cy="2241464"/>
            <a:chOff x="0" y="0"/>
            <a:chExt cx="6948614" cy="29886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C09019A-D99D-77DE-3AE8-0D0E0C8286EC}"/>
                </a:ext>
              </a:extLst>
            </p:cNvPr>
            <p:cNvSpPr/>
            <p:nvPr/>
          </p:nvSpPr>
          <p:spPr>
            <a:xfrm>
              <a:off x="0" y="0"/>
              <a:ext cx="5545009" cy="1455565"/>
            </a:xfrm>
            <a:custGeom>
              <a:avLst/>
              <a:gdLst/>
              <a:ahLst/>
              <a:cxnLst/>
              <a:rect l="l" t="t" r="r" b="b"/>
              <a:pathLst>
                <a:path w="5545009" h="1455565">
                  <a:moveTo>
                    <a:pt x="0" y="0"/>
                  </a:moveTo>
                  <a:lnTo>
                    <a:pt x="5545009" y="0"/>
                  </a:lnTo>
                  <a:lnTo>
                    <a:pt x="5545009" y="1455565"/>
                  </a:lnTo>
                  <a:lnTo>
                    <a:pt x="0" y="145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14772BC-975D-8773-58EE-0DFFAA154E7D}"/>
                </a:ext>
              </a:extLst>
            </p:cNvPr>
            <p:cNvSpPr/>
            <p:nvPr/>
          </p:nvSpPr>
          <p:spPr>
            <a:xfrm>
              <a:off x="1403605" y="1533054"/>
              <a:ext cx="5545009" cy="1455565"/>
            </a:xfrm>
            <a:custGeom>
              <a:avLst/>
              <a:gdLst/>
              <a:ahLst/>
              <a:cxnLst/>
              <a:rect l="l" t="t" r="r" b="b"/>
              <a:pathLst>
                <a:path w="5545009" h="1455565">
                  <a:moveTo>
                    <a:pt x="0" y="0"/>
                  </a:moveTo>
                  <a:lnTo>
                    <a:pt x="5545009" y="0"/>
                  </a:lnTo>
                  <a:lnTo>
                    <a:pt x="5545009" y="1455565"/>
                  </a:lnTo>
                  <a:lnTo>
                    <a:pt x="0" y="1455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8D93D4BF-895F-13FC-7320-F88286FEDDE9}"/>
              </a:ext>
            </a:extLst>
          </p:cNvPr>
          <p:cNvSpPr/>
          <p:nvPr/>
        </p:nvSpPr>
        <p:spPr>
          <a:xfrm>
            <a:off x="7833793" y="230428"/>
            <a:ext cx="2620415" cy="2490680"/>
          </a:xfrm>
          <a:custGeom>
            <a:avLst/>
            <a:gdLst/>
            <a:ahLst/>
            <a:cxnLst/>
            <a:rect l="l" t="t" r="r" b="b"/>
            <a:pathLst>
              <a:path w="2620415" h="2490680">
                <a:moveTo>
                  <a:pt x="0" y="0"/>
                </a:moveTo>
                <a:lnTo>
                  <a:pt x="2620414" y="0"/>
                </a:lnTo>
                <a:lnTo>
                  <a:pt x="2620414" y="2490679"/>
                </a:lnTo>
                <a:lnTo>
                  <a:pt x="0" y="24906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26"/>
            </a:stretch>
          </a:blipFill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02706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C0C52-4774-01CB-9BEB-57A0A810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437F6A-344B-7EEA-ECDD-053E7C40589C}"/>
              </a:ext>
            </a:extLst>
          </p:cNvPr>
          <p:cNvSpPr/>
          <p:nvPr/>
        </p:nvSpPr>
        <p:spPr>
          <a:xfrm>
            <a:off x="533400" y="225723"/>
            <a:ext cx="2230881" cy="2250574"/>
          </a:xfrm>
          <a:custGeom>
            <a:avLst/>
            <a:gdLst/>
            <a:ahLst/>
            <a:cxnLst/>
            <a:rect l="l" t="t" r="r" b="b"/>
            <a:pathLst>
              <a:path w="2230881" h="2250574">
                <a:moveTo>
                  <a:pt x="0" y="0"/>
                </a:moveTo>
                <a:lnTo>
                  <a:pt x="2230882" y="0"/>
                </a:lnTo>
                <a:lnTo>
                  <a:pt x="2230882" y="2250573"/>
                </a:lnTo>
                <a:lnTo>
                  <a:pt x="0" y="225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19A66A3-80B0-9A3B-2E78-68D5B14CCC3F}"/>
              </a:ext>
            </a:extLst>
          </p:cNvPr>
          <p:cNvSpPr/>
          <p:nvPr/>
        </p:nvSpPr>
        <p:spPr>
          <a:xfrm>
            <a:off x="15392399" y="-4183275"/>
            <a:ext cx="7222947" cy="7165492"/>
          </a:xfrm>
          <a:custGeom>
            <a:avLst/>
            <a:gdLst/>
            <a:ahLst/>
            <a:cxnLst/>
            <a:rect l="l" t="t" r="r" b="b"/>
            <a:pathLst>
              <a:path w="7867702" h="7867702">
                <a:moveTo>
                  <a:pt x="0" y="0"/>
                </a:moveTo>
                <a:lnTo>
                  <a:pt x="7867702" y="0"/>
                </a:lnTo>
                <a:lnTo>
                  <a:pt x="7867702" y="7867702"/>
                </a:lnTo>
                <a:lnTo>
                  <a:pt x="0" y="7867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963F55C-B55A-972C-ACB1-1F423207ABB2}"/>
              </a:ext>
            </a:extLst>
          </p:cNvPr>
          <p:cNvSpPr/>
          <p:nvPr/>
        </p:nvSpPr>
        <p:spPr>
          <a:xfrm rot="-10800000">
            <a:off x="-4228973" y="7353299"/>
            <a:ext cx="7353173" cy="7248091"/>
          </a:xfrm>
          <a:custGeom>
            <a:avLst/>
            <a:gdLst/>
            <a:ahLst/>
            <a:cxnLst/>
            <a:rect l="l" t="t" r="r" b="b"/>
            <a:pathLst>
              <a:path w="7867702" h="7867702">
                <a:moveTo>
                  <a:pt x="0" y="0"/>
                </a:moveTo>
                <a:lnTo>
                  <a:pt x="7867702" y="0"/>
                </a:lnTo>
                <a:lnTo>
                  <a:pt x="7867702" y="7867701"/>
                </a:lnTo>
                <a:lnTo>
                  <a:pt x="0" y="7867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pic>
        <p:nvPicPr>
          <p:cNvPr id="10" name="صورة 9">
            <a:extLst>
              <a:ext uri="{FF2B5EF4-FFF2-40B4-BE49-F238E27FC236}">
                <a16:creationId xmlns:a16="http://schemas.microsoft.com/office/drawing/2014/main" id="{3447C1B3-54CA-F0B6-4457-C36E0E8DF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034" y="952500"/>
            <a:ext cx="11157932" cy="5305645"/>
          </a:xfrm>
          <a:prstGeom prst="rect">
            <a:avLst/>
          </a:prstGeom>
        </p:spPr>
      </p:pic>
      <p:sp>
        <p:nvSpPr>
          <p:cNvPr id="13" name="مربع نص 12">
            <a:extLst>
              <a:ext uri="{FF2B5EF4-FFF2-40B4-BE49-F238E27FC236}">
                <a16:creationId xmlns:a16="http://schemas.microsoft.com/office/drawing/2014/main" id="{613D6500-7E66-3FD0-18BE-08BEB33A7045}"/>
              </a:ext>
            </a:extLst>
          </p:cNvPr>
          <p:cNvSpPr txBox="1"/>
          <p:nvPr/>
        </p:nvSpPr>
        <p:spPr>
          <a:xfrm>
            <a:off x="2759927" y="6581946"/>
            <a:ext cx="134220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Purpose:</a:t>
            </a:r>
            <a:r>
              <a:rPr lang="en-US" sz="4000" dirty="0"/>
              <a:t> Entry page of the system.</a:t>
            </a:r>
            <a:br>
              <a:rPr lang="en-US" sz="4000" dirty="0"/>
            </a:br>
            <a:r>
              <a:rPr lang="en-US" sz="4000" b="1" dirty="0"/>
              <a:t>Description:</a:t>
            </a:r>
            <a:br>
              <a:rPr lang="en-US" sz="4000" dirty="0"/>
            </a:br>
            <a:r>
              <a:rPr lang="en-US" sz="4000" dirty="0"/>
              <a:t>Simple, clean introduction to the application with a “Get Started” button. Leads users to the login page.</a:t>
            </a:r>
            <a:endParaRPr lang="ar-SA" sz="4000" dirty="0"/>
          </a:p>
        </p:txBody>
      </p:sp>
    </p:spTree>
    <p:extLst>
      <p:ext uri="{BB962C8B-B14F-4D97-AF65-F5344CB8AC3E}">
        <p14:creationId xmlns:p14="http://schemas.microsoft.com/office/powerpoint/2010/main" val="153752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712AB-EFB1-584E-7AD2-5F3F9C69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C77BBF-0859-E9F8-CCCD-7AA580118F0B}"/>
              </a:ext>
            </a:extLst>
          </p:cNvPr>
          <p:cNvSpPr/>
          <p:nvPr/>
        </p:nvSpPr>
        <p:spPr>
          <a:xfrm>
            <a:off x="8112130" y="190500"/>
            <a:ext cx="1828800" cy="1892377"/>
          </a:xfrm>
          <a:custGeom>
            <a:avLst/>
            <a:gdLst/>
            <a:ahLst/>
            <a:cxnLst/>
            <a:rect l="l" t="t" r="r" b="b"/>
            <a:pathLst>
              <a:path w="2230881" h="2250574">
                <a:moveTo>
                  <a:pt x="0" y="0"/>
                </a:moveTo>
                <a:lnTo>
                  <a:pt x="2230882" y="0"/>
                </a:lnTo>
                <a:lnTo>
                  <a:pt x="2230882" y="2250573"/>
                </a:lnTo>
                <a:lnTo>
                  <a:pt x="0" y="225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SA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970BB53-4124-23AE-8D53-5EB5FC493885}"/>
              </a:ext>
            </a:extLst>
          </p:cNvPr>
          <p:cNvGrpSpPr/>
          <p:nvPr/>
        </p:nvGrpSpPr>
        <p:grpSpPr>
          <a:xfrm>
            <a:off x="14088200" y="-4604977"/>
            <a:ext cx="4199800" cy="7917038"/>
            <a:chOff x="0" y="0"/>
            <a:chExt cx="5599733" cy="105560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631CFAE-EE8E-9407-6F5D-0E707ACC17B2}"/>
                </a:ext>
              </a:extLst>
            </p:cNvPr>
            <p:cNvSpPr/>
            <p:nvPr/>
          </p:nvSpPr>
          <p:spPr>
            <a:xfrm rot="5400000" flipH="1" flipV="1">
              <a:off x="-2595029" y="2595029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9"/>
                  </a:moveTo>
                  <a:lnTo>
                    <a:pt x="0" y="1847309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9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04CD72-6E4A-0DC0-D738-22C6003F9AB3}"/>
                </a:ext>
              </a:extLst>
            </p:cNvPr>
            <p:cNvSpPr/>
            <p:nvPr/>
          </p:nvSpPr>
          <p:spPr>
            <a:xfrm rot="5400000" flipV="1">
              <a:off x="-747720" y="4353475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0" y="1847309"/>
                  </a:moveTo>
                  <a:lnTo>
                    <a:pt x="7037367" y="1847309"/>
                  </a:lnTo>
                  <a:lnTo>
                    <a:pt x="7037367" y="0"/>
                  </a:lnTo>
                  <a:lnTo>
                    <a:pt x="0" y="0"/>
                  </a:lnTo>
                  <a:lnTo>
                    <a:pt x="0" y="1847309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2F22973-AAA0-939C-DA53-A8A55FF6D7D6}"/>
                </a:ext>
              </a:extLst>
            </p:cNvPr>
            <p:cNvSpPr/>
            <p:nvPr/>
          </p:nvSpPr>
          <p:spPr>
            <a:xfrm rot="5400000" flipH="1" flipV="1">
              <a:off x="1157395" y="6113713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8"/>
                  </a:moveTo>
                  <a:lnTo>
                    <a:pt x="0" y="1847308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098F522-28C3-E761-B5F6-E23715194998}"/>
              </a:ext>
            </a:extLst>
          </p:cNvPr>
          <p:cNvSpPr/>
          <p:nvPr/>
        </p:nvSpPr>
        <p:spPr>
          <a:xfrm>
            <a:off x="0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4B3988-3AB8-7914-ADD7-ECECEB2F5F2E}"/>
              </a:ext>
            </a:extLst>
          </p:cNvPr>
          <p:cNvSpPr txBox="1"/>
          <p:nvPr/>
        </p:nvSpPr>
        <p:spPr>
          <a:xfrm>
            <a:off x="1219200" y="7375440"/>
            <a:ext cx="640079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Purpose:</a:t>
            </a:r>
            <a:r>
              <a:rPr lang="en-US" sz="2400" dirty="0"/>
              <a:t> Authenticate users securely.</a:t>
            </a:r>
            <a:br>
              <a:rPr lang="en-US" sz="2400" dirty="0"/>
            </a:br>
            <a:r>
              <a:rPr lang="en-US" sz="2400" b="1" dirty="0"/>
              <a:t>Description:</a:t>
            </a:r>
            <a:br>
              <a:rPr lang="en-US" sz="2400" dirty="0"/>
            </a:br>
            <a:r>
              <a:rPr lang="en-US" sz="2400" dirty="0"/>
              <a:t>Users enter email and password. The system verifies the hashed password using </a:t>
            </a:r>
            <a:r>
              <a:rPr lang="en-US" sz="2400" dirty="0" err="1"/>
              <a:t>bcrypt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If successful → navigates to Home Page.</a:t>
            </a:r>
            <a:endParaRPr lang="en-US" sz="2400" b="1" dirty="0">
              <a:solidFill>
                <a:srgbClr val="B58325"/>
              </a:solidFill>
              <a:latin typeface="Readex Pro" pitchFamily="2" charset="-78"/>
              <a:ea typeface="Readex Pro Semi-Bold"/>
              <a:cs typeface="Readex Pro" pitchFamily="2" charset="-78"/>
              <a:sym typeface="Readex Pro Semi-Bold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DDF9DA9-44D1-3199-30F0-53B6C5706E2B}"/>
              </a:ext>
            </a:extLst>
          </p:cNvPr>
          <p:cNvSpPr/>
          <p:nvPr/>
        </p:nvSpPr>
        <p:spPr>
          <a:xfrm>
            <a:off x="3659413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6491E19-08C3-E37E-DCE8-1CFCB81BC4FC}"/>
              </a:ext>
            </a:extLst>
          </p:cNvPr>
          <p:cNvSpPr/>
          <p:nvPr/>
        </p:nvSpPr>
        <p:spPr>
          <a:xfrm>
            <a:off x="7334326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5652D65-B8B1-4A29-68D6-C0BF09A55333}"/>
              </a:ext>
            </a:extLst>
          </p:cNvPr>
          <p:cNvSpPr/>
          <p:nvPr/>
        </p:nvSpPr>
        <p:spPr>
          <a:xfrm>
            <a:off x="10993739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1A4C1E4-6BE2-31D3-5F84-1ADCF015C216}"/>
              </a:ext>
            </a:extLst>
          </p:cNvPr>
          <p:cNvSpPr/>
          <p:nvPr/>
        </p:nvSpPr>
        <p:spPr>
          <a:xfrm>
            <a:off x="14663905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3" y="0"/>
                </a:lnTo>
                <a:lnTo>
                  <a:pt x="4147703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EF4425E1-3D45-0CE0-9E44-44536993C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826" y="1961348"/>
            <a:ext cx="7139752" cy="5414092"/>
          </a:xfrm>
          <a:prstGeom prst="rect">
            <a:avLst/>
          </a:prstGeom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E2BDDEE1-DCBD-F81F-7D3C-BC29D3B2E0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5368" y="1886650"/>
            <a:ext cx="5546632" cy="5406897"/>
          </a:xfrm>
          <a:prstGeom prst="rect">
            <a:avLst/>
          </a:prstGeom>
        </p:spPr>
      </p:pic>
      <p:sp>
        <p:nvSpPr>
          <p:cNvPr id="19" name="مربع نص 18">
            <a:extLst>
              <a:ext uri="{FF2B5EF4-FFF2-40B4-BE49-F238E27FC236}">
                <a16:creationId xmlns:a16="http://schemas.microsoft.com/office/drawing/2014/main" id="{6BD02689-FF7F-9807-69E2-45DE1BF76E8C}"/>
              </a:ext>
            </a:extLst>
          </p:cNvPr>
          <p:cNvSpPr txBox="1"/>
          <p:nvPr/>
        </p:nvSpPr>
        <p:spPr>
          <a:xfrm>
            <a:off x="8534400" y="7451785"/>
            <a:ext cx="94070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Purpose:</a:t>
            </a:r>
            <a:r>
              <a:rPr lang="en-US" sz="2400" dirty="0"/>
              <a:t> Create a new account.</a:t>
            </a:r>
            <a:br>
              <a:rPr lang="en-US" sz="2400" dirty="0"/>
            </a:br>
            <a:r>
              <a:rPr lang="en-US" sz="2400" b="1" dirty="0"/>
              <a:t>Description:</a:t>
            </a:r>
            <a:br>
              <a:rPr lang="en-US" sz="2400" dirty="0"/>
            </a:br>
            <a:r>
              <a:rPr lang="en-US" sz="2400" dirty="0"/>
              <a:t>User enters username, email, password, confirm password.</a:t>
            </a:r>
            <a:br>
              <a:rPr lang="en-US" sz="2400" dirty="0"/>
            </a:br>
            <a:r>
              <a:rPr lang="en-US" sz="2400" dirty="0"/>
              <a:t>Includes validation + password hashing.</a:t>
            </a:r>
            <a:br>
              <a:rPr lang="en-US" sz="2400" dirty="0"/>
            </a:br>
            <a:r>
              <a:rPr lang="en-US" sz="2400" dirty="0"/>
              <a:t>After signup, the user is redirected to the Home Page automatically.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21485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094B-C199-DE68-9D8D-2EE89C23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31D4FEBC-D947-BB43-4116-715FE806967B}"/>
              </a:ext>
            </a:extLst>
          </p:cNvPr>
          <p:cNvGrpSpPr/>
          <p:nvPr/>
        </p:nvGrpSpPr>
        <p:grpSpPr>
          <a:xfrm>
            <a:off x="14088200" y="-4604977"/>
            <a:ext cx="4199800" cy="7917038"/>
            <a:chOff x="0" y="0"/>
            <a:chExt cx="5599733" cy="105560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0C9BC56-95F7-6600-4A78-530B65EB3160}"/>
                </a:ext>
              </a:extLst>
            </p:cNvPr>
            <p:cNvSpPr/>
            <p:nvPr/>
          </p:nvSpPr>
          <p:spPr>
            <a:xfrm rot="5400000" flipH="1" flipV="1">
              <a:off x="-2595029" y="2595029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9"/>
                  </a:moveTo>
                  <a:lnTo>
                    <a:pt x="0" y="1847309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9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C5DA98F-EAD0-8B0A-6A84-275ED53F6CE6}"/>
                </a:ext>
              </a:extLst>
            </p:cNvPr>
            <p:cNvSpPr/>
            <p:nvPr/>
          </p:nvSpPr>
          <p:spPr>
            <a:xfrm rot="5400000" flipV="1">
              <a:off x="-747720" y="4353475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0" y="1847309"/>
                  </a:moveTo>
                  <a:lnTo>
                    <a:pt x="7037367" y="1847309"/>
                  </a:lnTo>
                  <a:lnTo>
                    <a:pt x="7037367" y="0"/>
                  </a:lnTo>
                  <a:lnTo>
                    <a:pt x="0" y="0"/>
                  </a:lnTo>
                  <a:lnTo>
                    <a:pt x="0" y="1847309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501B907-62DB-C865-7E36-814A0CCE11C9}"/>
                </a:ext>
              </a:extLst>
            </p:cNvPr>
            <p:cNvSpPr/>
            <p:nvPr/>
          </p:nvSpPr>
          <p:spPr>
            <a:xfrm rot="5400000" flipH="1" flipV="1">
              <a:off x="1157395" y="6113713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8"/>
                  </a:moveTo>
                  <a:lnTo>
                    <a:pt x="0" y="1847308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48F618F-DD99-69CF-8394-A0CB7513DB82}"/>
              </a:ext>
            </a:extLst>
          </p:cNvPr>
          <p:cNvSpPr/>
          <p:nvPr/>
        </p:nvSpPr>
        <p:spPr>
          <a:xfrm>
            <a:off x="0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50BC8DF-0F07-5267-BBDB-4936325E5659}"/>
              </a:ext>
            </a:extLst>
          </p:cNvPr>
          <p:cNvSpPr/>
          <p:nvPr/>
        </p:nvSpPr>
        <p:spPr>
          <a:xfrm>
            <a:off x="3659413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E937919-5AD2-75E1-AF1B-B706473C00B3}"/>
              </a:ext>
            </a:extLst>
          </p:cNvPr>
          <p:cNvSpPr/>
          <p:nvPr/>
        </p:nvSpPr>
        <p:spPr>
          <a:xfrm>
            <a:off x="7334326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7C85586-F74A-D09E-3597-4813A1BCC826}"/>
              </a:ext>
            </a:extLst>
          </p:cNvPr>
          <p:cNvSpPr/>
          <p:nvPr/>
        </p:nvSpPr>
        <p:spPr>
          <a:xfrm>
            <a:off x="10993739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6FCBAC9-B96F-84BA-2C6E-353470E7FB08}"/>
              </a:ext>
            </a:extLst>
          </p:cNvPr>
          <p:cNvSpPr/>
          <p:nvPr/>
        </p:nvSpPr>
        <p:spPr>
          <a:xfrm>
            <a:off x="14663905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3" y="0"/>
                </a:lnTo>
                <a:lnTo>
                  <a:pt x="4147703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pic>
        <p:nvPicPr>
          <p:cNvPr id="14" name="صورة 13">
            <a:extLst>
              <a:ext uri="{FF2B5EF4-FFF2-40B4-BE49-F238E27FC236}">
                <a16:creationId xmlns:a16="http://schemas.microsoft.com/office/drawing/2014/main" id="{F622EBDF-CF6B-0B7F-FE6D-82FB3A4088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35" y="951915"/>
            <a:ext cx="9107171" cy="8383170"/>
          </a:xfrm>
          <a:prstGeom prst="rect">
            <a:avLst/>
          </a:prstGeom>
        </p:spPr>
      </p:pic>
      <p:sp>
        <p:nvSpPr>
          <p:cNvPr id="16" name="مربع نص 15">
            <a:extLst>
              <a:ext uri="{FF2B5EF4-FFF2-40B4-BE49-F238E27FC236}">
                <a16:creationId xmlns:a16="http://schemas.microsoft.com/office/drawing/2014/main" id="{490DCAAB-76A5-4F63-C093-2CC3036B46C9}"/>
              </a:ext>
            </a:extLst>
          </p:cNvPr>
          <p:cNvSpPr txBox="1"/>
          <p:nvPr/>
        </p:nvSpPr>
        <p:spPr>
          <a:xfrm>
            <a:off x="8188213" y="3086100"/>
            <a:ext cx="940704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Purpose:</a:t>
            </a:r>
            <a:r>
              <a:rPr lang="en-US" sz="3200" dirty="0"/>
              <a:t> Main dashboard.</a:t>
            </a:r>
            <a:br>
              <a:rPr lang="en-US" sz="3200" dirty="0"/>
            </a:br>
            <a:r>
              <a:rPr lang="en-US" sz="3200" b="1" dirty="0"/>
              <a:t>Description:</a:t>
            </a:r>
            <a:br>
              <a:rPr lang="en-US" sz="3200" dirty="0"/>
            </a:br>
            <a:r>
              <a:rPr lang="en-US" sz="3200" dirty="0"/>
              <a:t>Displays a welcome message with the user’s name and navigation buttons: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About 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Contact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Preview Portfolio</a:t>
            </a:r>
            <a:br>
              <a:rPr lang="en-US" sz="3200" dirty="0"/>
            </a:br>
            <a:r>
              <a:rPr lang="en-US" sz="3200" dirty="0"/>
              <a:t>Also shows a QR code users can share to provide quick access to their online portfolio.</a:t>
            </a:r>
          </a:p>
        </p:txBody>
      </p:sp>
    </p:spTree>
    <p:extLst>
      <p:ext uri="{BB962C8B-B14F-4D97-AF65-F5344CB8AC3E}">
        <p14:creationId xmlns:p14="http://schemas.microsoft.com/office/powerpoint/2010/main" val="33288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8358-C4C4-C17D-F51B-5ED75A45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DEB831-4501-C885-7DCF-52803AF2278E}"/>
              </a:ext>
            </a:extLst>
          </p:cNvPr>
          <p:cNvSpPr/>
          <p:nvPr/>
        </p:nvSpPr>
        <p:spPr>
          <a:xfrm>
            <a:off x="583437" y="419100"/>
            <a:ext cx="2230881" cy="2250574"/>
          </a:xfrm>
          <a:custGeom>
            <a:avLst/>
            <a:gdLst/>
            <a:ahLst/>
            <a:cxnLst/>
            <a:rect l="l" t="t" r="r" b="b"/>
            <a:pathLst>
              <a:path w="2230881" h="2250574">
                <a:moveTo>
                  <a:pt x="0" y="0"/>
                </a:moveTo>
                <a:lnTo>
                  <a:pt x="2230882" y="0"/>
                </a:lnTo>
                <a:lnTo>
                  <a:pt x="2230882" y="2250573"/>
                </a:lnTo>
                <a:lnTo>
                  <a:pt x="0" y="225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SA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2EEAC82-BCCA-731B-A668-31B3F3DA8B36}"/>
              </a:ext>
            </a:extLst>
          </p:cNvPr>
          <p:cNvGrpSpPr/>
          <p:nvPr/>
        </p:nvGrpSpPr>
        <p:grpSpPr>
          <a:xfrm>
            <a:off x="14088200" y="-4604977"/>
            <a:ext cx="4199800" cy="7917038"/>
            <a:chOff x="0" y="0"/>
            <a:chExt cx="5599733" cy="105560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4953CC4-691B-6CAD-B375-05CDB3BC34EC}"/>
                </a:ext>
              </a:extLst>
            </p:cNvPr>
            <p:cNvSpPr/>
            <p:nvPr/>
          </p:nvSpPr>
          <p:spPr>
            <a:xfrm rot="5400000" flipH="1" flipV="1">
              <a:off x="-2595029" y="2595029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9"/>
                  </a:moveTo>
                  <a:lnTo>
                    <a:pt x="0" y="1847309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9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99146E5-5FA1-5E33-BA84-A208D866848C}"/>
                </a:ext>
              </a:extLst>
            </p:cNvPr>
            <p:cNvSpPr/>
            <p:nvPr/>
          </p:nvSpPr>
          <p:spPr>
            <a:xfrm rot="5400000" flipV="1">
              <a:off x="-747720" y="4353475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0" y="1847309"/>
                  </a:moveTo>
                  <a:lnTo>
                    <a:pt x="7037367" y="1847309"/>
                  </a:lnTo>
                  <a:lnTo>
                    <a:pt x="7037367" y="0"/>
                  </a:lnTo>
                  <a:lnTo>
                    <a:pt x="0" y="0"/>
                  </a:lnTo>
                  <a:lnTo>
                    <a:pt x="0" y="1847309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8EF937E-B5B4-E336-FA67-2A17D29F2451}"/>
                </a:ext>
              </a:extLst>
            </p:cNvPr>
            <p:cNvSpPr/>
            <p:nvPr/>
          </p:nvSpPr>
          <p:spPr>
            <a:xfrm rot="5400000" flipH="1" flipV="1">
              <a:off x="1157395" y="6113713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8"/>
                  </a:moveTo>
                  <a:lnTo>
                    <a:pt x="0" y="1847308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5FA0FA9-635A-0BB3-88C9-C67B70280E29}"/>
              </a:ext>
            </a:extLst>
          </p:cNvPr>
          <p:cNvSpPr/>
          <p:nvPr/>
        </p:nvSpPr>
        <p:spPr>
          <a:xfrm>
            <a:off x="0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5694CCE-A104-5392-717C-8D38D0B8A308}"/>
              </a:ext>
            </a:extLst>
          </p:cNvPr>
          <p:cNvSpPr/>
          <p:nvPr/>
        </p:nvSpPr>
        <p:spPr>
          <a:xfrm>
            <a:off x="3659413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AE4F743-C7E8-724C-DE25-A5A301B75811}"/>
              </a:ext>
            </a:extLst>
          </p:cNvPr>
          <p:cNvSpPr/>
          <p:nvPr/>
        </p:nvSpPr>
        <p:spPr>
          <a:xfrm>
            <a:off x="7334326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0A3396F-9EFA-24D6-F9CE-05E6FD7EB57B}"/>
              </a:ext>
            </a:extLst>
          </p:cNvPr>
          <p:cNvSpPr/>
          <p:nvPr/>
        </p:nvSpPr>
        <p:spPr>
          <a:xfrm>
            <a:off x="10993739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2" y="0"/>
                </a:lnTo>
                <a:lnTo>
                  <a:pt x="4147702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8263A2E-B646-F3DA-B749-7F4F10034054}"/>
              </a:ext>
            </a:extLst>
          </p:cNvPr>
          <p:cNvSpPr/>
          <p:nvPr/>
        </p:nvSpPr>
        <p:spPr>
          <a:xfrm>
            <a:off x="14663905" y="9825983"/>
            <a:ext cx="4147702" cy="699925"/>
          </a:xfrm>
          <a:custGeom>
            <a:avLst/>
            <a:gdLst/>
            <a:ahLst/>
            <a:cxnLst/>
            <a:rect l="l" t="t" r="r" b="b"/>
            <a:pathLst>
              <a:path w="4147702" h="699925">
                <a:moveTo>
                  <a:pt x="0" y="0"/>
                </a:moveTo>
                <a:lnTo>
                  <a:pt x="4147703" y="0"/>
                </a:lnTo>
                <a:lnTo>
                  <a:pt x="4147703" y="699925"/>
                </a:lnTo>
                <a:lnTo>
                  <a:pt x="0" y="69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174B1F0B-4E72-F02B-E139-FF2E6FC615D5}"/>
              </a:ext>
            </a:extLst>
          </p:cNvPr>
          <p:cNvSpPr txBox="1"/>
          <p:nvPr/>
        </p:nvSpPr>
        <p:spPr>
          <a:xfrm>
            <a:off x="3810000" y="5905500"/>
            <a:ext cx="10023687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/>
              <a:t>Purpose:</a:t>
            </a:r>
            <a:r>
              <a:rPr lang="en-US" sz="2800" dirty="0"/>
              <a:t> Add/Edit personal information.</a:t>
            </a:r>
            <a:br>
              <a:rPr lang="en-US" sz="2800" dirty="0"/>
            </a:br>
            <a:r>
              <a:rPr lang="en-US" sz="2800" b="1" dirty="0"/>
              <a:t>Description:</a:t>
            </a:r>
            <a:br>
              <a:rPr lang="en-US" sz="2800" dirty="0"/>
            </a:br>
            <a:r>
              <a:rPr lang="en-US" sz="2800" dirty="0"/>
              <a:t>User fills in:</a:t>
            </a:r>
          </a:p>
          <a:p>
            <a:r>
              <a:rPr lang="en-US" sz="2800" dirty="0"/>
              <a:t>Name</a:t>
            </a:r>
          </a:p>
          <a:p>
            <a:r>
              <a:rPr lang="en-US" sz="2800" dirty="0"/>
              <a:t>Role</a:t>
            </a:r>
          </a:p>
          <a:p>
            <a:r>
              <a:rPr lang="en-US" sz="2800" dirty="0"/>
              <a:t>Bio</a:t>
            </a:r>
          </a:p>
          <a:p>
            <a:r>
              <a:rPr lang="en-US" sz="2800" dirty="0"/>
              <a:t>Skills</a:t>
            </a:r>
          </a:p>
          <a:p>
            <a:r>
              <a:rPr lang="en-US" sz="2800" dirty="0"/>
              <a:t>Education</a:t>
            </a:r>
            <a:br>
              <a:rPr lang="en-US" sz="2800" dirty="0"/>
            </a:br>
            <a:r>
              <a:rPr lang="en-US" sz="2800" dirty="0"/>
              <a:t>Data is saved to SQLite and shown in the preview page.</a:t>
            </a:r>
          </a:p>
        </p:txBody>
      </p:sp>
      <p:pic>
        <p:nvPicPr>
          <p:cNvPr id="14" name="صورة 13">
            <a:extLst>
              <a:ext uri="{FF2B5EF4-FFF2-40B4-BE49-F238E27FC236}">
                <a16:creationId xmlns:a16="http://schemas.microsoft.com/office/drawing/2014/main" id="{05D87A26-D87A-31E7-6B05-1990D2FBE5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988" y="247337"/>
            <a:ext cx="7074900" cy="560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18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0CBCCEEC-39D7-0DDD-3694-6F8C9DC2C000}"/>
              </a:ext>
            </a:extLst>
          </p:cNvPr>
          <p:cNvGrpSpPr/>
          <p:nvPr/>
        </p:nvGrpSpPr>
        <p:grpSpPr>
          <a:xfrm>
            <a:off x="14325600" y="-4610100"/>
            <a:ext cx="4199800" cy="7917038"/>
            <a:chOff x="0" y="0"/>
            <a:chExt cx="5599733" cy="10556050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2BFE5C74-9380-909F-E552-FCD1966DEC67}"/>
                </a:ext>
              </a:extLst>
            </p:cNvPr>
            <p:cNvSpPr/>
            <p:nvPr/>
          </p:nvSpPr>
          <p:spPr>
            <a:xfrm rot="5400000" flipH="1" flipV="1">
              <a:off x="-2595029" y="2595029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9"/>
                  </a:moveTo>
                  <a:lnTo>
                    <a:pt x="0" y="1847309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9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6FB34F6-68F0-AD9F-9218-CFE3C1F2168D}"/>
                </a:ext>
              </a:extLst>
            </p:cNvPr>
            <p:cNvSpPr/>
            <p:nvPr/>
          </p:nvSpPr>
          <p:spPr>
            <a:xfrm rot="5400000" flipV="1">
              <a:off x="-747720" y="4353475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0" y="1847309"/>
                  </a:moveTo>
                  <a:lnTo>
                    <a:pt x="7037367" y="1847309"/>
                  </a:lnTo>
                  <a:lnTo>
                    <a:pt x="7037367" y="0"/>
                  </a:lnTo>
                  <a:lnTo>
                    <a:pt x="0" y="0"/>
                  </a:lnTo>
                  <a:lnTo>
                    <a:pt x="0" y="1847309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84DDE7DC-39B0-0ECF-865E-CB5B21496084}"/>
                </a:ext>
              </a:extLst>
            </p:cNvPr>
            <p:cNvSpPr/>
            <p:nvPr/>
          </p:nvSpPr>
          <p:spPr>
            <a:xfrm rot="5400000" flipH="1" flipV="1">
              <a:off x="1157395" y="6113713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8"/>
                  </a:moveTo>
                  <a:lnTo>
                    <a:pt x="0" y="1847308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8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pic>
        <p:nvPicPr>
          <p:cNvPr id="7" name="صورة 6">
            <a:extLst>
              <a:ext uri="{FF2B5EF4-FFF2-40B4-BE49-F238E27FC236}">
                <a16:creationId xmlns:a16="http://schemas.microsoft.com/office/drawing/2014/main" id="{1C8D7BE5-E7F1-8D85-0A73-B8DF371BB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672" y="1242468"/>
            <a:ext cx="6382641" cy="7802064"/>
          </a:xfrm>
          <a:prstGeom prst="rect">
            <a:avLst/>
          </a:prstGeom>
        </p:spPr>
      </p:pic>
      <p:sp>
        <p:nvSpPr>
          <p:cNvPr id="9" name="مربع نص 8">
            <a:extLst>
              <a:ext uri="{FF2B5EF4-FFF2-40B4-BE49-F238E27FC236}">
                <a16:creationId xmlns:a16="http://schemas.microsoft.com/office/drawing/2014/main" id="{E170EC01-A947-2B55-5548-33CD03235ECD}"/>
              </a:ext>
            </a:extLst>
          </p:cNvPr>
          <p:cNvSpPr txBox="1"/>
          <p:nvPr/>
        </p:nvSpPr>
        <p:spPr>
          <a:xfrm>
            <a:off x="8153400" y="3300716"/>
            <a:ext cx="92639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Purpose:</a:t>
            </a:r>
            <a:r>
              <a:rPr lang="en-US" sz="3200" dirty="0"/>
              <a:t> Manage user projects.</a:t>
            </a:r>
            <a:br>
              <a:rPr lang="en-US" sz="3200" dirty="0"/>
            </a:br>
            <a:r>
              <a:rPr lang="en-US" sz="3200" b="1" dirty="0"/>
              <a:t>Description:</a:t>
            </a:r>
            <a:br>
              <a:rPr lang="en-US" sz="3200" dirty="0"/>
            </a:br>
            <a:r>
              <a:rPr lang="en-US" sz="3200" dirty="0"/>
              <a:t>Users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Add new 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Edit existing 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Delete projects</a:t>
            </a:r>
            <a:br>
              <a:rPr lang="en-US" sz="3200" dirty="0"/>
            </a:br>
            <a:r>
              <a:rPr lang="en-US" sz="3200" dirty="0"/>
              <a:t>Each project includes project name, description, and GitHub link.</a:t>
            </a:r>
          </a:p>
        </p:txBody>
      </p:sp>
    </p:spTree>
    <p:extLst>
      <p:ext uri="{BB962C8B-B14F-4D97-AF65-F5344CB8AC3E}">
        <p14:creationId xmlns:p14="http://schemas.microsoft.com/office/powerpoint/2010/main" val="155477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0CBCCEEC-39D7-0DDD-3694-6F8C9DC2C000}"/>
              </a:ext>
            </a:extLst>
          </p:cNvPr>
          <p:cNvGrpSpPr/>
          <p:nvPr/>
        </p:nvGrpSpPr>
        <p:grpSpPr>
          <a:xfrm>
            <a:off x="14325600" y="-4610100"/>
            <a:ext cx="4199800" cy="7917038"/>
            <a:chOff x="0" y="0"/>
            <a:chExt cx="5599733" cy="10556050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2BFE5C74-9380-909F-E552-FCD1966DEC67}"/>
                </a:ext>
              </a:extLst>
            </p:cNvPr>
            <p:cNvSpPr/>
            <p:nvPr/>
          </p:nvSpPr>
          <p:spPr>
            <a:xfrm rot="5400000" flipH="1" flipV="1">
              <a:off x="-2595029" y="2595029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9"/>
                  </a:moveTo>
                  <a:lnTo>
                    <a:pt x="0" y="1847309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9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6FB34F6-68F0-AD9F-9218-CFE3C1F2168D}"/>
                </a:ext>
              </a:extLst>
            </p:cNvPr>
            <p:cNvSpPr/>
            <p:nvPr/>
          </p:nvSpPr>
          <p:spPr>
            <a:xfrm rot="5400000" flipV="1">
              <a:off x="-747720" y="4353475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0" y="1847309"/>
                  </a:moveTo>
                  <a:lnTo>
                    <a:pt x="7037367" y="1847309"/>
                  </a:lnTo>
                  <a:lnTo>
                    <a:pt x="7037367" y="0"/>
                  </a:lnTo>
                  <a:lnTo>
                    <a:pt x="0" y="0"/>
                  </a:lnTo>
                  <a:lnTo>
                    <a:pt x="0" y="1847309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84DDE7DC-39B0-0ECF-865E-CB5B21496084}"/>
                </a:ext>
              </a:extLst>
            </p:cNvPr>
            <p:cNvSpPr/>
            <p:nvPr/>
          </p:nvSpPr>
          <p:spPr>
            <a:xfrm rot="5400000" flipH="1" flipV="1">
              <a:off x="1157395" y="6113713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8"/>
                  </a:moveTo>
                  <a:lnTo>
                    <a:pt x="0" y="1847308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8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9" name="مربع نص 8">
            <a:extLst>
              <a:ext uri="{FF2B5EF4-FFF2-40B4-BE49-F238E27FC236}">
                <a16:creationId xmlns:a16="http://schemas.microsoft.com/office/drawing/2014/main" id="{E170EC01-A947-2B55-5548-33CD03235ECD}"/>
              </a:ext>
            </a:extLst>
          </p:cNvPr>
          <p:cNvSpPr txBox="1"/>
          <p:nvPr/>
        </p:nvSpPr>
        <p:spPr>
          <a:xfrm>
            <a:off x="8153400" y="3300716"/>
            <a:ext cx="92639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Purpose:</a:t>
            </a:r>
            <a:r>
              <a:rPr lang="en-US" sz="3200" dirty="0"/>
              <a:t> Add/Edit contact information.</a:t>
            </a:r>
            <a:br>
              <a:rPr lang="en-US" sz="3200" dirty="0"/>
            </a:br>
            <a:r>
              <a:rPr lang="en-US" sz="3200" b="1" dirty="0"/>
              <a:t>Description:</a:t>
            </a:r>
            <a:br>
              <a:rPr lang="en-US" sz="3200" dirty="0"/>
            </a:br>
            <a:r>
              <a:rPr lang="en-US" sz="3200" dirty="0"/>
              <a:t>User fills in email, phone number, LinkedIn, and GitHub.</a:t>
            </a:r>
            <a:br>
              <a:rPr lang="en-US" sz="3200" dirty="0"/>
            </a:br>
            <a:r>
              <a:rPr lang="en-US" sz="3200" dirty="0"/>
              <a:t>Information is shown in the preview page.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14AF1627-C37A-877A-1962-9D99F1EAA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20631"/>
            <a:ext cx="7391400" cy="599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00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2E4C3-6A78-4743-491A-38A0DB6D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79F522CD-984B-9385-D905-193F6CF60D66}"/>
              </a:ext>
            </a:extLst>
          </p:cNvPr>
          <p:cNvGrpSpPr/>
          <p:nvPr/>
        </p:nvGrpSpPr>
        <p:grpSpPr>
          <a:xfrm>
            <a:off x="14325600" y="-4610100"/>
            <a:ext cx="4199800" cy="7917038"/>
            <a:chOff x="0" y="0"/>
            <a:chExt cx="5599733" cy="10556050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E19B53A0-5073-D42A-C209-497C3DC61F00}"/>
                </a:ext>
              </a:extLst>
            </p:cNvPr>
            <p:cNvSpPr/>
            <p:nvPr/>
          </p:nvSpPr>
          <p:spPr>
            <a:xfrm rot="5400000" flipH="1" flipV="1">
              <a:off x="-2595029" y="2595029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9"/>
                  </a:moveTo>
                  <a:lnTo>
                    <a:pt x="0" y="1847309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9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46C65FFD-735F-99C7-C71A-7D3E398D64E8}"/>
                </a:ext>
              </a:extLst>
            </p:cNvPr>
            <p:cNvSpPr/>
            <p:nvPr/>
          </p:nvSpPr>
          <p:spPr>
            <a:xfrm rot="5400000" flipV="1">
              <a:off x="-747720" y="4353475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0" y="1847309"/>
                  </a:moveTo>
                  <a:lnTo>
                    <a:pt x="7037367" y="1847309"/>
                  </a:lnTo>
                  <a:lnTo>
                    <a:pt x="7037367" y="0"/>
                  </a:lnTo>
                  <a:lnTo>
                    <a:pt x="0" y="0"/>
                  </a:lnTo>
                  <a:lnTo>
                    <a:pt x="0" y="1847309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77DBDE05-F79D-4BEF-350A-235A299AFF60}"/>
                </a:ext>
              </a:extLst>
            </p:cNvPr>
            <p:cNvSpPr/>
            <p:nvPr/>
          </p:nvSpPr>
          <p:spPr>
            <a:xfrm rot="5400000" flipH="1" flipV="1">
              <a:off x="1157395" y="6113713"/>
              <a:ext cx="7037367" cy="1847309"/>
            </a:xfrm>
            <a:custGeom>
              <a:avLst/>
              <a:gdLst/>
              <a:ahLst/>
              <a:cxnLst/>
              <a:rect l="l" t="t" r="r" b="b"/>
              <a:pathLst>
                <a:path w="7037367" h="1847309">
                  <a:moveTo>
                    <a:pt x="7037367" y="1847308"/>
                  </a:moveTo>
                  <a:lnTo>
                    <a:pt x="0" y="1847308"/>
                  </a:lnTo>
                  <a:lnTo>
                    <a:pt x="0" y="0"/>
                  </a:lnTo>
                  <a:lnTo>
                    <a:pt x="7037367" y="0"/>
                  </a:lnTo>
                  <a:lnTo>
                    <a:pt x="7037367" y="1847308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9" name="مربع نص 8">
            <a:extLst>
              <a:ext uri="{FF2B5EF4-FFF2-40B4-BE49-F238E27FC236}">
                <a16:creationId xmlns:a16="http://schemas.microsoft.com/office/drawing/2014/main" id="{1E307B5B-7F3A-67C6-1AF6-A7F92E0FBC14}"/>
              </a:ext>
            </a:extLst>
          </p:cNvPr>
          <p:cNvSpPr txBox="1"/>
          <p:nvPr/>
        </p:nvSpPr>
        <p:spPr>
          <a:xfrm>
            <a:off x="11711050" y="2781300"/>
            <a:ext cx="545392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Purpose:</a:t>
            </a:r>
            <a:r>
              <a:rPr lang="en-US" sz="3200" dirty="0"/>
              <a:t> Display the final completed portfolio.</a:t>
            </a:r>
            <a:br>
              <a:rPr lang="en-US" sz="3200" dirty="0"/>
            </a:br>
            <a:r>
              <a:rPr lang="en-US" sz="3200" b="1" dirty="0"/>
              <a:t>Description:</a:t>
            </a:r>
            <a:br>
              <a:rPr lang="en-US" sz="3200" dirty="0"/>
            </a:br>
            <a:r>
              <a:rPr lang="en-US" sz="3200" dirty="0"/>
              <a:t>Shows a professional layout including:</a:t>
            </a:r>
          </a:p>
          <a:p>
            <a:r>
              <a:rPr lang="en-US" sz="3200" dirty="0"/>
              <a:t>About Me section</a:t>
            </a:r>
          </a:p>
          <a:p>
            <a:r>
              <a:rPr lang="en-US" sz="3200" dirty="0"/>
              <a:t>List of projects</a:t>
            </a:r>
          </a:p>
          <a:p>
            <a:r>
              <a:rPr lang="en-US" sz="3200" dirty="0"/>
              <a:t>Contact information</a:t>
            </a:r>
            <a:br>
              <a:rPr lang="en-US" sz="3200" dirty="0"/>
            </a:br>
            <a:r>
              <a:rPr lang="en-US" sz="3200" dirty="0"/>
              <a:t>The page is fully shareable and linked to the generated QR code.</a:t>
            </a: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90D551AA-4D33-7BA0-CEB8-D1407DD37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1147205"/>
            <a:ext cx="11201400" cy="784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09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D0899-BD2B-1276-2DA9-D6503463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59FB2C1-446D-5218-FBCF-A670AA304DA7}"/>
              </a:ext>
            </a:extLst>
          </p:cNvPr>
          <p:cNvSpPr/>
          <p:nvPr/>
        </p:nvSpPr>
        <p:spPr>
          <a:xfrm>
            <a:off x="-3593877" y="6708116"/>
            <a:ext cx="6027593" cy="3578884"/>
          </a:xfrm>
          <a:custGeom>
            <a:avLst/>
            <a:gdLst/>
            <a:ahLst/>
            <a:cxnLst/>
            <a:rect l="l" t="t" r="r" b="b"/>
            <a:pathLst>
              <a:path w="6027593" h="3578884">
                <a:moveTo>
                  <a:pt x="0" y="0"/>
                </a:moveTo>
                <a:lnTo>
                  <a:pt x="6027594" y="0"/>
                </a:lnTo>
                <a:lnTo>
                  <a:pt x="6027594" y="3578884"/>
                </a:lnTo>
                <a:lnTo>
                  <a:pt x="0" y="3578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1E38F07-2E16-5D45-CC24-DD28D7DB2153}"/>
              </a:ext>
            </a:extLst>
          </p:cNvPr>
          <p:cNvSpPr/>
          <p:nvPr/>
        </p:nvSpPr>
        <p:spPr>
          <a:xfrm>
            <a:off x="12344400" y="1282437"/>
            <a:ext cx="6027593" cy="3578884"/>
          </a:xfrm>
          <a:custGeom>
            <a:avLst/>
            <a:gdLst/>
            <a:ahLst/>
            <a:cxnLst/>
            <a:rect l="l" t="t" r="r" b="b"/>
            <a:pathLst>
              <a:path w="6027593" h="3578884">
                <a:moveTo>
                  <a:pt x="0" y="0"/>
                </a:moveTo>
                <a:lnTo>
                  <a:pt x="6027594" y="0"/>
                </a:lnTo>
                <a:lnTo>
                  <a:pt x="6027594" y="3578884"/>
                </a:lnTo>
                <a:lnTo>
                  <a:pt x="0" y="3578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844C07E-0E94-95DA-BE9A-5EEB17CBB942}"/>
              </a:ext>
            </a:extLst>
          </p:cNvPr>
          <p:cNvSpPr txBox="1"/>
          <p:nvPr/>
        </p:nvSpPr>
        <p:spPr>
          <a:xfrm>
            <a:off x="2062286" y="3611122"/>
            <a:ext cx="14163427" cy="2557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72"/>
              </a:lnSpc>
            </a:pPr>
            <a:r>
              <a:rPr lang="en-US" sz="8000" b="1" dirty="0">
                <a:solidFill>
                  <a:srgbClr val="B58325"/>
                </a:solidFill>
                <a:latin typeface="Readex Pro Bold"/>
                <a:ea typeface="Readex Pro Bold"/>
                <a:cs typeface="Readex Pro Bold"/>
                <a:sym typeface="Readex Pro Bold"/>
              </a:rPr>
              <a:t>Thank you for </a:t>
            </a:r>
            <a:br>
              <a:rPr lang="en-US" sz="8000" b="1" dirty="0">
                <a:solidFill>
                  <a:srgbClr val="B58325"/>
                </a:solidFill>
                <a:latin typeface="Readex Pro Bold"/>
                <a:ea typeface="Readex Pro Bold"/>
                <a:cs typeface="Readex Pro Bold"/>
                <a:sym typeface="Readex Pro Bold"/>
              </a:rPr>
            </a:br>
            <a:r>
              <a:rPr lang="en-US" sz="8000" b="1" dirty="0">
                <a:solidFill>
                  <a:srgbClr val="007AA5"/>
                </a:solidFill>
                <a:latin typeface="Readex Pro Bold"/>
                <a:ea typeface="Readex Pro Bold"/>
                <a:cs typeface="Readex Pro Bold"/>
                <a:sym typeface="Readex Pro Bold"/>
              </a:rPr>
              <a:t>Listening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EA2C8AA7-8C46-10E0-6B5C-957870856AAD}"/>
              </a:ext>
            </a:extLst>
          </p:cNvPr>
          <p:cNvSpPr/>
          <p:nvPr/>
        </p:nvSpPr>
        <p:spPr>
          <a:xfrm>
            <a:off x="7771177" y="717608"/>
            <a:ext cx="2745647" cy="2769883"/>
          </a:xfrm>
          <a:custGeom>
            <a:avLst/>
            <a:gdLst/>
            <a:ahLst/>
            <a:cxnLst/>
            <a:rect l="l" t="t" r="r" b="b"/>
            <a:pathLst>
              <a:path w="2745647" h="2769883">
                <a:moveTo>
                  <a:pt x="0" y="0"/>
                </a:moveTo>
                <a:lnTo>
                  <a:pt x="2745646" y="0"/>
                </a:lnTo>
                <a:lnTo>
                  <a:pt x="2745646" y="2769883"/>
                </a:lnTo>
                <a:lnTo>
                  <a:pt x="0" y="2769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4200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2242</TotalTime>
  <Words>423</Words>
  <Application>Microsoft Office PowerPoint</Application>
  <PresentationFormat>مخصص</PresentationFormat>
  <Paragraphs>35</Paragraphs>
  <Slides>10</Slides>
  <Notes>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6" baseType="lpstr">
      <vt:lpstr>Readex Pro Bold</vt:lpstr>
      <vt:lpstr>Readex Pro</vt:lpstr>
      <vt:lpstr>Calibri</vt:lpstr>
      <vt:lpstr>Arial</vt:lpstr>
      <vt:lpstr>Aptos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DevOps_Presentation</dc:title>
  <dc:creator>ASUS</dc:creator>
  <cp:lastModifiedBy>عبدالله خوجه</cp:lastModifiedBy>
  <cp:revision>15</cp:revision>
  <dcterms:created xsi:type="dcterms:W3CDTF">2006-08-16T00:00:00Z</dcterms:created>
  <dcterms:modified xsi:type="dcterms:W3CDTF">2025-11-17T22:31:30Z</dcterms:modified>
  <dc:identifier>DAGeJUCBUWo</dc:identifier>
</cp:coreProperties>
</file>